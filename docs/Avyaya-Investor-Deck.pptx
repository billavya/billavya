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85455" y="-1645920"/>
            <a:ext cx="4754880" cy="4754880"/>
          </a:xfrm>
          <a:prstGeom prst="ellipse">
            <a:avLst/>
          </a:prstGeom>
          <a:solidFill>
            <a:srgbClr val="B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39935" y="274320"/>
            <a:ext cx="2377440" cy="2377440"/>
          </a:xfrm>
          <a:prstGeom prst="ellipse">
            <a:avLst/>
          </a:prstGeom>
          <a:solidFill>
            <a:srgbClr val="8F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C2A8"/>
                </a:solidFill>
                <a:latin typeface="Calibri"/>
              </a:rPr>
              <a:t>AVYAYA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Grant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1">
                <a:solidFill>
                  <a:srgbClr val="C9D6DE"/>
                </a:solidFill>
                <a:latin typeface="Calibri"/>
              </a:rPr>
              <a:t>Canadian innovation funding for the Avyaya ID System (IDS) — a private,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1">
                <a:solidFill>
                  <a:srgbClr val="C9D6DE"/>
                </a:solidFill>
                <a:latin typeface="Calibri"/>
              </a:rPr>
              <a:t>paperless purchase-record platform for Canadian shoppers and small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C2A8"/>
                </a:solidFill>
                <a:latin typeface="Calibri"/>
              </a:rPr>
              <a:t>Prepared for: [Grant program / funding body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8A6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WHAT THIS APPLICATION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2545"/>
                </a:solidFill>
                <a:latin typeface="Georgia"/>
              </a:rPr>
              <a:t>Five things a reviewer needs to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2094524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194560"/>
            <a:ext cx="17653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FEFE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063240"/>
            <a:ext cx="17653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The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69080"/>
            <a:ext cx="17653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What the IDS is, and why it's new.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892" y="1965960"/>
            <a:ext cx="2094524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7484" y="2194560"/>
            <a:ext cx="17653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FEFEA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7484" y="3063240"/>
            <a:ext cx="17653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Privacy &amp;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7484" y="4069080"/>
            <a:ext cx="17653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Why it's safer and greener by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8585" y="1965960"/>
            <a:ext cx="2094524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194560"/>
            <a:ext cx="17653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FEFE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177" y="3063240"/>
            <a:ext cx="17653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Market &amp;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177" y="4069080"/>
            <a:ext cx="17653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Proof this is a real, working platform.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277" y="1965960"/>
            <a:ext cx="2094524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8869" y="2194560"/>
            <a:ext cx="17653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FEFE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8869" y="3063240"/>
            <a:ext cx="17653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Canadian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8869" y="4069080"/>
            <a:ext cx="17653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Jobs, small-business support, export potential.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9970" y="1965960"/>
            <a:ext cx="2094524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4562" y="2194560"/>
            <a:ext cx="17653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FEFEA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4562" y="3063240"/>
            <a:ext cx="17653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Use of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4562" y="4069080"/>
            <a:ext cx="17653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Exactly where the grant money goes.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SECTION 01 — 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Georgia"/>
              </a:rPr>
              <a:t>The Avyaya ID System (IDS): one identity for every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5B6B7C"/>
                </a:solidFill>
                <a:latin typeface="Calibri"/>
              </a:rPr>
              <a:t>Canadian shoppers and small businesses have no shared digital record of everyday purchases. The IDS solves this.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86584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single customer ID links every purchase, at every partner business, to one digital record — automatically, at checkout.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529584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What's new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B7C"/>
                </a:solidFill>
                <a:latin typeface="Calibri"/>
              </a:rPr>
              <a:t>Offers are checked against a real receipt, in real time. The same rule runs at the till and in the app, so a discount is never in dispute.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72584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Where it stands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platform is built and working now. This is not a concept — it is software already running real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331720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C2A8"/>
                </a:solidFill>
                <a:latin typeface="Calibri"/>
              </a:rPr>
              <a:t>TECHNOLOGY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Already operating — not a concept on paper.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00C2A8"/>
                </a:solidFill>
                <a:latin typeface="Calibri"/>
              </a:rPr>
              <a:t>—  </a:t>
            </a:r>
            <a:r>
              <a:rPr sz="1150" b="0">
                <a:solidFill>
                  <a:srgbClr val="DCE6EC"/>
                </a:solidFill>
                <a:latin typeface="Calibri"/>
              </a:rPr>
              <a:t>Core platform built: mobile app, merchant point-of-sale, and an automated offer-matching engine.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00C2A8"/>
                </a:solidFill>
                <a:latin typeface="Calibri"/>
              </a:rPr>
              <a:t>—  </a:t>
            </a:r>
            <a:r>
              <a:rPr sz="1150" b="0">
                <a:solidFill>
                  <a:srgbClr val="DCE6EC"/>
                </a:solidFill>
                <a:latin typeface="Calibri"/>
              </a:rPr>
              <a:t>Grant funding would go toward adapting this proven system for the Canadian market — not building it from zero.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00C2A8"/>
                </a:solidFill>
                <a:latin typeface="Calibri"/>
              </a:rPr>
              <a:t>—  </a:t>
            </a:r>
            <a:r>
              <a:rPr sz="1150" b="0">
                <a:solidFill>
                  <a:srgbClr val="DCE6EC"/>
                </a:solidFill>
                <a:latin typeface="Calibri"/>
              </a:rPr>
              <a:t>What's left to build is listed plainly in Section 04 — this application does not overstate what exists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SECTION 02 — PRIVACY, SECURITY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2545"/>
                </a:solidFill>
                <a:latin typeface="Georgia"/>
              </a:rPr>
              <a:t>Built to protect people, and the planet,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5B6B7C"/>
                </a:solidFill>
                <a:latin typeface="Calibri"/>
              </a:rPr>
              <a:t>Two benefits built into the architecture itself — not bolted on after the fact.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578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64008" cy="40233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414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PRIVACY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0B2545"/>
                </a:solidFill>
                <a:latin typeface="Georgia"/>
              </a:rPr>
              <a:t>The merchant never sees who the customer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4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038C7F"/>
                </a:solidFill>
                <a:latin typeface="Calibri"/>
              </a:rPr>
              <a:t>—  </a:t>
            </a:r>
            <a:r>
              <a:rPr sz="1150" b="0">
                <a:solidFill>
                  <a:srgbClr val="5B6B7C"/>
                </a:solidFill>
                <a:latin typeface="Calibri"/>
              </a:rPr>
              <a:t>A customer identifies themselves with a pseudonymous ID, not their name or email. The merchant's checkout screen only ever reads and writes that ID.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038C7F"/>
                </a:solidFill>
                <a:latin typeface="Calibri"/>
              </a:rPr>
              <a:t>—  </a:t>
            </a:r>
            <a:r>
              <a:rPr sz="1150" b="0">
                <a:solidFill>
                  <a:srgbClr val="5B6B7C"/>
                </a:solidFill>
                <a:latin typeface="Calibri"/>
              </a:rPr>
              <a:t>Less personal data sitting in a small merchant's systems means less for a criminal to steal — this shrinks the target, it doesn't just lock the door.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038C7F"/>
                </a:solidFill>
                <a:latin typeface="Calibri"/>
              </a:rPr>
              <a:t>—  </a:t>
            </a:r>
            <a:r>
              <a:rPr sz="1150" b="0">
                <a:solidFill>
                  <a:srgbClr val="5B6B7C"/>
                </a:solidFill>
                <a:latin typeface="Calibri"/>
              </a:rPr>
              <a:t>This lines up with Canada's privacy-by-design principles under PIPEDA, instead of adding privacy controls after the 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240280"/>
            <a:ext cx="5257800" cy="40233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240280"/>
            <a:ext cx="64008" cy="40233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414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ENVIRONMENTAL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0B2545"/>
                </a:solidFill>
                <a:latin typeface="Georgia"/>
              </a:rPr>
              <a:t>Paperless is the default, not the exception.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4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—  </a:t>
            </a:r>
            <a:r>
              <a:rPr sz="1150" b="0">
                <a:solidFill>
                  <a:srgbClr val="14532D"/>
                </a:solidFill>
                <a:latin typeface="Calibri"/>
              </a:rPr>
              <a:t>Every invoice is created and stored digitally from the start. No paper receipt has to be printed for a purchase to be recorded.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—  </a:t>
            </a:r>
            <a:r>
              <a:rPr sz="1150" b="0">
                <a:solidFill>
                  <a:srgbClr val="14532D"/>
                </a:solidFill>
                <a:latin typeface="Calibri"/>
              </a:rPr>
              <a:t>Printing a paper copy is still possible, but it's a separate, optional button — a choice, not a step in the checkout flow.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—  </a:t>
            </a:r>
            <a:r>
              <a:rPr sz="1150" b="0">
                <a:solidFill>
                  <a:srgbClr val="14532D"/>
                </a:solidFill>
                <a:latin typeface="Calibri"/>
              </a:rPr>
              <a:t>At merchant scale, this cuts paper and thermal-receipt waste across every transaction the platform touches.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SECTION 03 — MARKET &amp;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2545"/>
                </a:solidFill>
                <a:latin typeface="Georgia"/>
              </a:rPr>
              <a:t>A working platform, ready for the Canadian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64008" cy="1783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A full mobile app (iOS and Android) and a merchant point-of-sale system. Both are built and tested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92024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920240"/>
            <a:ext cx="64008" cy="1783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Localized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4203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A Canadian version is built: CAD pricing, Canadian merchant categories, and Canadian business-number formatting.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4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77640"/>
            <a:ext cx="64008" cy="1783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Ready to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943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The next step is onboarding real Canadian merchants — this is the gap the requested funding helps close.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97764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77640"/>
            <a:ext cx="64008" cy="1783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Compliant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9943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Built to support PIPEDA-aligned data handling, so Canadian privacy requirements are a starting point, not an afterthought.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6188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B45A09"/>
                </a:solidFill>
                <a:latin typeface="Calibri"/>
              </a:rPr>
              <a:t>Honest status: Canadian merchants and customers are not yet live on the platform. This application funds that launch, not a hypothetical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SECTION 04 — CANADIAN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2545"/>
                </a:solidFill>
                <a:latin typeface="Georgia"/>
              </a:rPr>
              <a:t>What Canada gains from this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5B6B7C"/>
                </a:solidFill>
                <a:latin typeface="Calibri"/>
              </a:rPr>
              <a:t>Measured in jobs, small-business support, safety, and sustainability — not just company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88136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468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Canadian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313432"/>
            <a:ext cx="7680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3293D"/>
                </a:solidFill>
                <a:latin typeface="Calibri"/>
              </a:rPr>
              <a:t>[X] technical and support roles planned in Canada within [XX] months of funding, based in [city/province].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26664"/>
            <a:ext cx="1088136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18104"/>
            <a:ext cx="2468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Small-business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099816"/>
            <a:ext cx="7680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3293D"/>
                </a:solidFill>
                <a:latin typeface="Calibri"/>
              </a:rPr>
              <a:t>Canadian independent restaurants and grocers gain a loyalty and marketing tool they could not otherwise afford to build in-house.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04488"/>
            <a:ext cx="2468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Reduced fraud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886200"/>
            <a:ext cx="7680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3293D"/>
                </a:solidFill>
                <a:latin typeface="Calibri"/>
              </a:rPr>
              <a:t>Merchants handle a pseudonymous ID, not customer PII — lowering the value of a breach to an attacker and the harm if one happens.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99432"/>
            <a:ext cx="1088136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2468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Less paper waste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72584"/>
            <a:ext cx="7680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3293D"/>
                </a:solidFill>
                <a:latin typeface="Calibri"/>
              </a:rPr>
              <a:t>Digital-by-default invoices reduce paper and thermal-receipt use at every participating merchant, at no extra cost to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85816"/>
            <a:ext cx="1088136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77256"/>
            <a:ext cx="2468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Export 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458968"/>
            <a:ext cx="7680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13293D"/>
                </a:solidFill>
                <a:latin typeface="Calibri"/>
              </a:rPr>
              <a:t>The platform already operates in one market. Canada becomes a second proof point and a base for further international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38C7F"/>
                </a:solidFill>
                <a:latin typeface="Calibri"/>
              </a:rPr>
              <a:t>SECTION 05 —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2545"/>
                </a:solidFill>
                <a:latin typeface="Georgia"/>
              </a:rPr>
              <a:t>Exactly where the grant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5B6B7C"/>
                </a:solidFill>
                <a:latin typeface="Calibri"/>
              </a:rPr>
              <a:t>A grant-ready breakdown — fill in amounts once the requested total is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38C7F"/>
                </a:solidFill>
                <a:latin typeface="Georgia"/>
              </a:rPr>
              <a:t>[XX]%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52374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Canadian hiring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Engineering and merchant-support roles based in Canada.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2860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48716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38C7F"/>
                </a:solidFill>
                <a:latin typeface="Georgia"/>
              </a:rPr>
              <a:t>[XX]%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52374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Merchant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004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Hands-on setup and training for the first Canadian restaurants and grocers.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38C7F"/>
                </a:solidFill>
                <a:latin typeface="Georgia"/>
              </a:rPr>
              <a:t>[XX]%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8114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Compliance &amp;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PIPEDA-aligned data handling review and Canadian hosting setup.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3434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4456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38C7F"/>
                </a:solidFill>
                <a:latin typeface="Georgia"/>
              </a:rPr>
              <a:t>[XX]%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58114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Canadian go-to-market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2578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Calibri"/>
              </a:rPr>
              <a:t>Marketing and outreach to Canadian merchants and early customers.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43600"/>
            <a:ext cx="10881360" cy="59436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71616"/>
            <a:ext cx="10332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C2A8"/>
                </a:solidFill>
                <a:latin typeface="Calibri"/>
              </a:rPr>
              <a:t>Total requested: $[XX,XXX] CAD over [XX]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98A6"/>
                </a:solidFill>
                <a:latin typeface="Calibri"/>
              </a:rPr>
              <a:t>AVYAYA · GRANT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B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One ID system. Private by design.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Paperless by default. Ready to grow in Canada.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C2A8"/>
                </a:solidFill>
                <a:latin typeface="Calibri"/>
              </a:rPr>
              <a:t>Contact: [Your name] · avyayasolutionscorporation@gmail.com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C9D6DE"/>
                </a:solidFill>
                <a:latin typeface="Calibri"/>
              </a:rPr>
              <a:t>Business number: [Your Canadian business number, once incorporated]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B98A6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